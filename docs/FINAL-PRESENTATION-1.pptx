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4" d="100"/>
          <a:sy n="84"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5258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74320" y="109728"/>
            <a:ext cx="54864" cy="1417320"/>
          </a:xfrm>
          <a:prstGeom prst="rect">
            <a:avLst/>
          </a:prstGeom>
          <a:solidFill>
            <a:srgbClr val="4472C4"/>
          </a:solidFill>
          <a:ln w="12700">
            <a:solidFill>
              <a:srgbClr val="4472C4"/>
            </a:solidFill>
            <a:prstDash val="solid"/>
          </a:ln>
        </p:spPr>
        <p:txBody>
          <a:bodyPr/>
          <a:lstStyle/>
          <a:p>
            <a:endParaRPr lang="en-US"/>
          </a:p>
        </p:txBody>
      </p:sp>
      <p:sp>
        <p:nvSpPr>
          <p:cNvPr id="3" name="Text 1"/>
          <p:cNvSpPr/>
          <p:nvPr/>
        </p:nvSpPr>
        <p:spPr>
          <a:xfrm>
            <a:off x="457200" y="91440"/>
            <a:ext cx="8229600" cy="384048"/>
          </a:xfrm>
          <a:prstGeom prst="rect">
            <a:avLst/>
          </a:prstGeom>
          <a:noFill/>
          <a:ln/>
        </p:spPr>
        <p:txBody>
          <a:bodyPr wrap="square" rtlCol="0" anchor="ctr"/>
          <a:lstStyle/>
          <a:p>
            <a:pPr marL="0" indent="0" algn="ctr">
              <a:buNone/>
            </a:pPr>
            <a:r>
              <a:rPr lang="en-US" sz="1700" b="1" dirty="0">
                <a:latin typeface="Times New Roman" pitchFamily="34" charset="0"/>
                <a:ea typeface="Times New Roman" pitchFamily="34" charset="-122"/>
                <a:cs typeface="Times New Roman" pitchFamily="34" charset="-120"/>
              </a:rPr>
              <a:t>KUMASI TECHNICAL UNIVERSITY</a:t>
            </a:r>
            <a:endParaRPr lang="en-US" sz="1700" dirty="0"/>
          </a:p>
        </p:txBody>
      </p:sp>
      <p:sp>
        <p:nvSpPr>
          <p:cNvPr id="4" name="Text 2"/>
          <p:cNvSpPr/>
          <p:nvPr/>
        </p:nvSpPr>
        <p:spPr>
          <a:xfrm>
            <a:off x="457200" y="475488"/>
            <a:ext cx="8229600" cy="329184"/>
          </a:xfrm>
          <a:prstGeom prst="rect">
            <a:avLst/>
          </a:prstGeom>
          <a:noFill/>
          <a:ln/>
        </p:spPr>
        <p:txBody>
          <a:bodyPr wrap="square"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FACULTY OF APPLIED SCIENCES AND TECHNOLOGY</a:t>
            </a:r>
            <a:endParaRPr lang="en-US" sz="1300" dirty="0"/>
          </a:p>
        </p:txBody>
      </p:sp>
      <p:sp>
        <p:nvSpPr>
          <p:cNvPr id="5" name="Text 3"/>
          <p:cNvSpPr/>
          <p:nvPr/>
        </p:nvSpPr>
        <p:spPr>
          <a:xfrm>
            <a:off x="457200" y="804672"/>
            <a:ext cx="8229600" cy="329184"/>
          </a:xfrm>
          <a:prstGeom prst="rect">
            <a:avLst/>
          </a:prstGeom>
          <a:noFill/>
          <a:ln/>
        </p:spPr>
        <p:txBody>
          <a:bodyPr wrap="square"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COMPUTER SCIENCE DEPARTMENT</a:t>
            </a:r>
            <a:endParaRPr lang="en-US" sz="1300" dirty="0"/>
          </a:p>
        </p:txBody>
      </p:sp>
      <p:sp>
        <p:nvSpPr>
          <p:cNvPr id="6" name="Text 4"/>
          <p:cNvSpPr/>
          <p:nvPr/>
        </p:nvSpPr>
        <p:spPr>
          <a:xfrm>
            <a:off x="457200" y="1600200"/>
            <a:ext cx="8229600" cy="1188720"/>
          </a:xfrm>
          <a:prstGeom prst="rect">
            <a:avLst/>
          </a:prstGeom>
          <a:noFill/>
          <a:ln/>
        </p:spPr>
        <p:txBody>
          <a:bodyPr wrap="square" rtlCol="0" anchor="ctr"/>
          <a:lstStyle/>
          <a:p>
            <a:pPr marL="0" indent="0" algn="ctr">
              <a:buNone/>
            </a:pPr>
            <a:r>
              <a:rPr lang="en-US" sz="1700" b="1" dirty="0">
                <a:solidFill>
                  <a:srgbClr val="000000"/>
                </a:solidFill>
                <a:latin typeface="Times New Roman" pitchFamily="34" charset="0"/>
                <a:ea typeface="Times New Roman" pitchFamily="34" charset="-122"/>
                <a:cs typeface="Times New Roman" pitchFamily="34" charset="-120"/>
              </a:rPr>
              <a:t>HEURISTIC APPROACH TO STORAGE RESOURCE ALLOCATION FOR COST REDUCTION AND SERVICE LEVEL AGREEMENT-AWARE AVAILABILITY</a:t>
            </a:r>
            <a:endParaRPr lang="en-US" sz="1700" dirty="0"/>
          </a:p>
        </p:txBody>
      </p:sp>
      <p:sp>
        <p:nvSpPr>
          <p:cNvPr id="7" name="Text 5"/>
          <p:cNvSpPr/>
          <p:nvPr/>
        </p:nvSpPr>
        <p:spPr>
          <a:xfrm>
            <a:off x="2286000" y="3063240"/>
            <a:ext cx="4572000" cy="347472"/>
          </a:xfrm>
          <a:prstGeom prst="rect">
            <a:avLst/>
          </a:prstGeom>
          <a:noFill/>
          <a:ln/>
        </p:spPr>
        <p:txBody>
          <a:bodyPr wrap="square" rtlCol="0" anchor="ct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EUNICE JUNIOR AGYEI</a:t>
            </a:r>
            <a:endParaRPr lang="en-US" sz="1300" dirty="0"/>
          </a:p>
        </p:txBody>
      </p:sp>
      <p:sp>
        <p:nvSpPr>
          <p:cNvPr id="8" name="Text 6"/>
          <p:cNvSpPr/>
          <p:nvPr/>
        </p:nvSpPr>
        <p:spPr>
          <a:xfrm>
            <a:off x="2286000" y="3401568"/>
            <a:ext cx="4572000" cy="329184"/>
          </a:xfrm>
          <a:prstGeom prst="rect">
            <a:avLst/>
          </a:prstGeom>
          <a:noFill/>
          <a:ln/>
        </p:spPr>
        <p:txBody>
          <a:bodyPr wrap="square" rtlCol="0" anchor="ct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(052241360019)</a:t>
            </a:r>
            <a:endParaRPr lang="en-US" sz="1300" dirty="0"/>
          </a:p>
        </p:txBody>
      </p:sp>
      <p:sp>
        <p:nvSpPr>
          <p:cNvPr id="9" name="Text 7"/>
          <p:cNvSpPr/>
          <p:nvPr/>
        </p:nvSpPr>
        <p:spPr>
          <a:xfrm>
            <a:off x="2286000" y="3931920"/>
            <a:ext cx="4572000" cy="329184"/>
          </a:xfrm>
          <a:prstGeom prst="rect">
            <a:avLst/>
          </a:prstGeom>
          <a:noFill/>
          <a:ln/>
        </p:spPr>
        <p:txBody>
          <a:bodyPr wrap="square" rtlCol="0" anchor="ct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SUPERVISOR</a:t>
            </a:r>
            <a:endParaRPr lang="en-US" sz="1300" dirty="0"/>
          </a:p>
        </p:txBody>
      </p:sp>
      <p:sp>
        <p:nvSpPr>
          <p:cNvPr id="10" name="Text 8"/>
          <p:cNvSpPr/>
          <p:nvPr/>
        </p:nvSpPr>
        <p:spPr>
          <a:xfrm>
            <a:off x="2286000" y="4251960"/>
            <a:ext cx="4572000" cy="329184"/>
          </a:xfrm>
          <a:prstGeom prst="rect">
            <a:avLst/>
          </a:prstGeom>
          <a:noFill/>
          <a:ln/>
        </p:spPr>
        <p:txBody>
          <a:bodyPr wrap="square" rtlCol="0" anchor="ctr"/>
          <a:lstStyle/>
          <a:p>
            <a:pPr marL="0" indent="0" algn="ctr">
              <a:buNone/>
            </a:pPr>
            <a:r>
              <a:rPr lang="en-US" sz="1300" dirty="0">
                <a:solidFill>
                  <a:srgbClr val="000000"/>
                </a:solidFill>
                <a:latin typeface="Times New Roman" pitchFamily="34" charset="0"/>
                <a:ea typeface="Times New Roman" pitchFamily="34" charset="-122"/>
                <a:cs typeface="Times New Roman" pitchFamily="34" charset="-120"/>
              </a:rPr>
              <a:t>PROF. SAMUEL KING OPOKU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274320" y="502920"/>
            <a:ext cx="54864" cy="4206240"/>
          </a:xfrm>
          <a:prstGeom prst="rect">
            <a:avLst/>
          </a:prstGeom>
          <a:solidFill>
            <a:srgbClr val="4472C4"/>
          </a:solidFill>
          <a:ln w="12700">
            <a:solidFill>
              <a:srgbClr val="4472C4"/>
            </a:solidFill>
            <a:prstDash val="solid"/>
          </a:ln>
        </p:spPr>
        <p:txBody>
          <a:bodyPr/>
          <a:lstStyle/>
          <a:p>
            <a:endParaRPr lang="en-US"/>
          </a:p>
        </p:txBody>
      </p:sp>
      <p:sp>
        <p:nvSpPr>
          <p:cNvPr id="3" name="Text 1"/>
          <p:cNvSpPr/>
          <p:nvPr/>
        </p:nvSpPr>
        <p:spPr>
          <a:xfrm>
            <a:off x="457200" y="91440"/>
            <a:ext cx="8229600" cy="457200"/>
          </a:xfrm>
          <a:prstGeom prst="rect">
            <a:avLst/>
          </a:prstGeom>
          <a:noFill/>
          <a:ln/>
        </p:spPr>
        <p:txBody>
          <a:bodyPr wrap="square" rtlCol="0" anchor="ctr"/>
          <a:lstStyle/>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CHAPTER TWO: LITERATURE REVIEW</a:t>
            </a:r>
            <a:endParaRPr lang="en-US" sz="2000" dirty="0"/>
          </a:p>
          <a:p>
            <a:pPr marL="0" indent="0" algn="ctr">
              <a:buNone/>
            </a:pPr>
            <a:r>
              <a:rPr lang="en-US" sz="2000" b="1" dirty="0">
                <a:solidFill>
                  <a:srgbClr val="000000"/>
                </a:solidFill>
                <a:latin typeface="Times New Roman" pitchFamily="34" charset="0"/>
                <a:ea typeface="Times New Roman" pitchFamily="34" charset="-122"/>
                <a:cs typeface="Times New Roman" pitchFamily="34" charset="-120"/>
              </a:rPr>
              <a:t>Chapter Introduction</a:t>
            </a:r>
            <a:endParaRPr lang="en-US" sz="2000" dirty="0"/>
          </a:p>
        </p:txBody>
      </p:sp>
      <p:sp>
        <p:nvSpPr>
          <p:cNvPr id="4" name="Text 2"/>
          <p:cNvSpPr/>
          <p:nvPr/>
        </p:nvSpPr>
        <p:spPr>
          <a:xfrm>
            <a:off x="457200" y="594360"/>
            <a:ext cx="8229600" cy="502920"/>
          </a:xfrm>
          <a:prstGeom prst="rect">
            <a:avLst/>
          </a:prstGeom>
          <a:noFill/>
          <a:ln/>
        </p:spPr>
        <p:txBody>
          <a:bodyPr wrap="square"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2.1 </a:t>
            </a:r>
            <a:r>
              <a:rPr lang="en-US" sz="1300" dirty="0">
                <a:solidFill>
                  <a:srgbClr val="000000"/>
                </a:solidFill>
                <a:latin typeface="Times New Roman" pitchFamily="34" charset="0"/>
                <a:ea typeface="Times New Roman" pitchFamily="34" charset="-122"/>
                <a:cs typeface="Times New Roman" pitchFamily="34" charset="-120"/>
              </a:rPr>
              <a:t>Overview of Cloud Computing and Storage Resource Management –  This section provides the broad context of cloud service models, storage types, and the need for efficient resource management.</a:t>
            </a:r>
            <a:endParaRPr lang="en-US" sz="1300" dirty="0"/>
          </a:p>
        </p:txBody>
      </p:sp>
      <p:sp>
        <p:nvSpPr>
          <p:cNvPr id="5" name="Text 3"/>
          <p:cNvSpPr/>
          <p:nvPr/>
        </p:nvSpPr>
        <p:spPr>
          <a:xfrm>
            <a:off x="457200" y="1143000"/>
            <a:ext cx="8229600" cy="502920"/>
          </a:xfrm>
          <a:prstGeom prst="rect">
            <a:avLst/>
          </a:prstGeom>
          <a:noFill/>
          <a:ln/>
        </p:spPr>
        <p:txBody>
          <a:bodyPr wrap="square" rtlCol="0" anchor="ctr"/>
          <a:lstStyle/>
          <a:p>
            <a:r>
              <a:rPr lang="en-US" sz="1300" b="1" dirty="0">
                <a:solidFill>
                  <a:srgbClr val="000000"/>
                </a:solidFill>
                <a:latin typeface="Times New Roman" pitchFamily="34" charset="0"/>
                <a:ea typeface="Times New Roman" pitchFamily="34" charset="-122"/>
                <a:cs typeface="Times New Roman" pitchFamily="34" charset="-120"/>
              </a:rPr>
              <a:t>2.2 </a:t>
            </a:r>
            <a:r>
              <a:rPr lang="en-US" sz="1300" dirty="0">
                <a:solidFill>
                  <a:srgbClr val="000000"/>
                </a:solidFill>
                <a:latin typeface="Times New Roman" pitchFamily="34" charset="0"/>
                <a:ea typeface="Times New Roman" pitchFamily="34" charset="-122"/>
                <a:cs typeface="Times New Roman" pitchFamily="34" charset="-120"/>
              </a:rPr>
              <a:t>Storage Resource Allocation in Cloud Environments – This section reviews existing allocation mechanisms, replication strategies, and highlights deficiencies in cost and SLA-awareness.</a:t>
            </a:r>
            <a:endParaRPr lang="en-US" sz="1300" dirty="0"/>
          </a:p>
        </p:txBody>
      </p:sp>
      <p:sp>
        <p:nvSpPr>
          <p:cNvPr id="6" name="Text 4"/>
          <p:cNvSpPr/>
          <p:nvPr/>
        </p:nvSpPr>
        <p:spPr>
          <a:xfrm>
            <a:off x="457200" y="1691640"/>
            <a:ext cx="8229600" cy="502920"/>
          </a:xfrm>
          <a:prstGeom prst="rect">
            <a:avLst/>
          </a:prstGeom>
          <a:noFill/>
          <a:ln/>
        </p:spPr>
        <p:txBody>
          <a:bodyPr wrap="square" rtlCol="0" anchor="ctr"/>
          <a:lstStyle/>
          <a:p>
            <a:r>
              <a:rPr lang="en-US" sz="1300" b="1" dirty="0">
                <a:solidFill>
                  <a:srgbClr val="000000"/>
                </a:solidFill>
                <a:latin typeface="Times New Roman" pitchFamily="34" charset="0"/>
                <a:ea typeface="Times New Roman" pitchFamily="34" charset="-122"/>
                <a:cs typeface="Times New Roman" pitchFamily="34" charset="-120"/>
              </a:rPr>
              <a:t>2.3 </a:t>
            </a:r>
            <a:r>
              <a:rPr lang="en-US" sz="1300" dirty="0">
                <a:solidFill>
                  <a:srgbClr val="000000"/>
                </a:solidFill>
                <a:latin typeface="Times New Roman" pitchFamily="34" charset="0"/>
                <a:ea typeface="Times New Roman" pitchFamily="34" charset="-122"/>
                <a:cs typeface="Times New Roman" pitchFamily="34" charset="-120"/>
              </a:rPr>
              <a:t>Service Level Agreements (SLAs) in Cloud Storage – This section defines SLAs, examines key metrics, and explores the cost-availability trade-off and consequences of violations.</a:t>
            </a:r>
            <a:endParaRPr lang="en-US" sz="1300" dirty="0"/>
          </a:p>
        </p:txBody>
      </p:sp>
      <p:sp>
        <p:nvSpPr>
          <p:cNvPr id="7" name="Text 5"/>
          <p:cNvSpPr/>
          <p:nvPr/>
        </p:nvSpPr>
        <p:spPr>
          <a:xfrm>
            <a:off x="457200" y="2240280"/>
            <a:ext cx="8229600" cy="502920"/>
          </a:xfrm>
          <a:prstGeom prst="rect">
            <a:avLst/>
          </a:prstGeom>
          <a:noFill/>
          <a:ln/>
        </p:spPr>
        <p:txBody>
          <a:bodyPr wrap="square" rtlCol="0" anchor="ctr"/>
          <a:lstStyle/>
          <a:p>
            <a:r>
              <a:rPr lang="en-US" sz="1300" b="1" dirty="0">
                <a:solidFill>
                  <a:srgbClr val="000000"/>
                </a:solidFill>
                <a:latin typeface="Times New Roman" pitchFamily="34" charset="0"/>
                <a:ea typeface="Times New Roman" pitchFamily="34" charset="-122"/>
                <a:cs typeface="Times New Roman" pitchFamily="34" charset="-120"/>
              </a:rPr>
              <a:t>2.4 </a:t>
            </a:r>
            <a:r>
              <a:rPr lang="en-US" sz="1300" dirty="0">
                <a:solidFill>
                  <a:srgbClr val="000000"/>
                </a:solidFill>
                <a:latin typeface="Times New Roman" pitchFamily="34" charset="0"/>
                <a:ea typeface="Times New Roman" pitchFamily="34" charset="-122"/>
                <a:cs typeface="Times New Roman" pitchFamily="34" charset="-120"/>
              </a:rPr>
              <a:t>Heuristic Optimization Techniques for Cloud Resource Allocation – This section examines greedy, GA, SA, GWO, PSO, WOA, ACO, and hybrid methods, comparing their strengths and weaknesses.</a:t>
            </a:r>
            <a:endParaRPr lang="en-US" sz="1300" dirty="0"/>
          </a:p>
        </p:txBody>
      </p:sp>
      <p:sp>
        <p:nvSpPr>
          <p:cNvPr id="8" name="Text 6"/>
          <p:cNvSpPr/>
          <p:nvPr/>
        </p:nvSpPr>
        <p:spPr>
          <a:xfrm>
            <a:off x="457200" y="2788920"/>
            <a:ext cx="8229600" cy="502920"/>
          </a:xfrm>
          <a:prstGeom prst="rect">
            <a:avLst/>
          </a:prstGeom>
          <a:noFill/>
          <a:ln/>
        </p:spPr>
        <p:txBody>
          <a:bodyPr wrap="square" rtlCol="0" anchor="ctr"/>
          <a:lstStyle/>
          <a:p>
            <a:r>
              <a:rPr lang="en-US" sz="1300" b="1" dirty="0">
                <a:solidFill>
                  <a:srgbClr val="000000"/>
                </a:solidFill>
                <a:latin typeface="Times New Roman" pitchFamily="34" charset="0"/>
                <a:ea typeface="Times New Roman" pitchFamily="34" charset="-122"/>
                <a:cs typeface="Times New Roman" pitchFamily="34" charset="-120"/>
              </a:rPr>
              <a:t>2.5 </a:t>
            </a:r>
            <a:r>
              <a:rPr lang="en-US" sz="1300" dirty="0">
                <a:solidFill>
                  <a:srgbClr val="000000"/>
                </a:solidFill>
                <a:latin typeface="Times New Roman" pitchFamily="34" charset="0"/>
                <a:ea typeface="Times New Roman" pitchFamily="34" charset="-122"/>
                <a:cs typeface="Times New Roman" pitchFamily="34" charset="-120"/>
              </a:rPr>
              <a:t>Cost Reduction Strategies in Cloud Storage – This section surveys tiering, deduplication, replication, and intelligent routing strategies and their cost-availability trade-offs.</a:t>
            </a:r>
            <a:endParaRPr lang="en-US" sz="1300" dirty="0"/>
          </a:p>
        </p:txBody>
      </p:sp>
      <p:sp>
        <p:nvSpPr>
          <p:cNvPr id="9" name="Text 7"/>
          <p:cNvSpPr/>
          <p:nvPr/>
        </p:nvSpPr>
        <p:spPr>
          <a:xfrm>
            <a:off x="457200" y="3337560"/>
            <a:ext cx="8229600" cy="502920"/>
          </a:xfrm>
          <a:prstGeom prst="rect">
            <a:avLst/>
          </a:prstGeom>
          <a:noFill/>
          <a:ln/>
        </p:spPr>
        <p:txBody>
          <a:bodyPr wrap="square" rtlCol="0" anchor="ctr"/>
          <a:lstStyle/>
          <a:p>
            <a:r>
              <a:rPr lang="en-US" sz="1300" b="1" dirty="0">
                <a:solidFill>
                  <a:srgbClr val="000000"/>
                </a:solidFill>
                <a:latin typeface="Times New Roman" pitchFamily="34" charset="0"/>
                <a:ea typeface="Times New Roman" pitchFamily="34" charset="-122"/>
                <a:cs typeface="Times New Roman" pitchFamily="34" charset="-120"/>
              </a:rPr>
              <a:t>2.6 </a:t>
            </a:r>
            <a:r>
              <a:rPr lang="en-US" sz="1300" dirty="0">
                <a:solidFill>
                  <a:srgbClr val="000000"/>
                </a:solidFill>
                <a:latin typeface="Times New Roman" pitchFamily="34" charset="0"/>
                <a:ea typeface="Times New Roman" pitchFamily="34" charset="-122"/>
                <a:cs typeface="Times New Roman" pitchFamily="34" charset="-120"/>
              </a:rPr>
              <a:t>SLA-Aware Availability Management – This section reviews availability models, multi-objective heuristic approaches, and their limitations for storage systems.</a:t>
            </a:r>
            <a:endParaRPr lang="en-US" sz="1300" dirty="0"/>
          </a:p>
        </p:txBody>
      </p:sp>
      <p:sp>
        <p:nvSpPr>
          <p:cNvPr id="10" name="Text 8"/>
          <p:cNvSpPr/>
          <p:nvPr/>
        </p:nvSpPr>
        <p:spPr>
          <a:xfrm>
            <a:off x="457200" y="3886200"/>
            <a:ext cx="8229600" cy="502920"/>
          </a:xfrm>
          <a:prstGeom prst="rect">
            <a:avLst/>
          </a:prstGeom>
          <a:noFill/>
          <a:ln/>
        </p:spPr>
        <p:txBody>
          <a:bodyPr wrap="square" rtlCol="0" anchor="ctr"/>
          <a:lstStyle/>
          <a:p>
            <a:r>
              <a:rPr lang="en-US" sz="1300" b="1" dirty="0">
                <a:solidFill>
                  <a:srgbClr val="000000"/>
                </a:solidFill>
                <a:latin typeface="Times New Roman" pitchFamily="34" charset="0"/>
                <a:ea typeface="Times New Roman" pitchFamily="34" charset="-122"/>
                <a:cs typeface="Times New Roman" pitchFamily="34" charset="-120"/>
              </a:rPr>
              <a:t>2.7 </a:t>
            </a:r>
            <a:r>
              <a:rPr lang="en-US" sz="1300" dirty="0">
                <a:solidFill>
                  <a:srgbClr val="000000"/>
                </a:solidFill>
                <a:latin typeface="Times New Roman" pitchFamily="34" charset="0"/>
                <a:ea typeface="Times New Roman" pitchFamily="34" charset="-122"/>
                <a:cs typeface="Times New Roman" pitchFamily="34" charset="-120"/>
              </a:rPr>
              <a:t>Simulation Frameworks and Datasets in Cloud Storage Research – This section reviews CloudSim, Google Borg, Alibaba, and other traces used to evaluate cloud resource allocation algorithms.</a:t>
            </a:r>
            <a:endParaRPr lang="en-US" sz="1300" dirty="0"/>
          </a:p>
        </p:txBody>
      </p:sp>
      <p:sp>
        <p:nvSpPr>
          <p:cNvPr id="11" name="Text 9"/>
          <p:cNvSpPr/>
          <p:nvPr/>
        </p:nvSpPr>
        <p:spPr>
          <a:xfrm>
            <a:off x="457200" y="4434840"/>
            <a:ext cx="8229600" cy="502920"/>
          </a:xfrm>
          <a:prstGeom prst="rect">
            <a:avLst/>
          </a:prstGeom>
          <a:noFill/>
          <a:ln/>
        </p:spPr>
        <p:txBody>
          <a:bodyPr wrap="square" rtlCol="0" anchor="ctr"/>
          <a:lstStyle/>
          <a:p>
            <a:r>
              <a:rPr lang="en-US" sz="1300" b="1" dirty="0">
                <a:solidFill>
                  <a:srgbClr val="000000"/>
                </a:solidFill>
                <a:latin typeface="Times New Roman" pitchFamily="34" charset="0"/>
                <a:ea typeface="Times New Roman" pitchFamily="34" charset="-122"/>
                <a:cs typeface="Times New Roman" pitchFamily="34" charset="-120"/>
              </a:rPr>
              <a:t>2.8 </a:t>
            </a:r>
            <a:r>
              <a:rPr lang="en-US" sz="1300" dirty="0">
                <a:solidFill>
                  <a:srgbClr val="000000"/>
                </a:solidFill>
                <a:latin typeface="Times New Roman" pitchFamily="34" charset="0"/>
                <a:ea typeface="Times New Roman" pitchFamily="34" charset="-122"/>
                <a:cs typeface="Times New Roman" pitchFamily="34" charset="-120"/>
              </a:rPr>
              <a:t>Research Gaps and Summary – This section </a:t>
            </a:r>
            <a:r>
              <a:rPr lang="en-US" sz="1300" dirty="0" err="1">
                <a:solidFill>
                  <a:srgbClr val="000000"/>
                </a:solidFill>
                <a:latin typeface="Times New Roman" pitchFamily="34" charset="0"/>
                <a:ea typeface="Times New Roman" pitchFamily="34" charset="-122"/>
                <a:cs typeface="Times New Roman" pitchFamily="34" charset="-120"/>
              </a:rPr>
              <a:t>synthesises</a:t>
            </a:r>
            <a:r>
              <a:rPr lang="en-US" sz="1300" dirty="0">
                <a:solidFill>
                  <a:srgbClr val="000000"/>
                </a:solidFill>
                <a:latin typeface="Times New Roman" pitchFamily="34" charset="0"/>
                <a:ea typeface="Times New Roman" pitchFamily="34" charset="-122"/>
                <a:cs typeface="Times New Roman" pitchFamily="34" charset="-120"/>
              </a:rPr>
              <a:t> all 60 reviewed articles, identifies four key research gaps, and justifies the proposed study.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2.1 OVERVIEW OF CLOUD COMPUTING AND STORAGE RESOURCE MANAGEMENT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Odukoya (2024)</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Conducted an analysis study on cloud computing adoption across IaaS, PaaS, and SaaS models, analysing literature from 2021 to 2024. Identified scalable storage, cost efficiency, and dynamic resource provisioning as the top drivers of SME cloud adoption.</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was research metrics  and descriptive, not experimental. It did not evaluate specific resource allocation algorithms or address the trade-off between storage cost and SLA-guaranteed availability.</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IEEE ICECCE (2024)</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algn="just"/>
            <a:r>
              <a:rPr lang="en-US" sz="950" dirty="0">
                <a:solidFill>
                  <a:srgbClr val="000000"/>
                </a:solidFill>
                <a:latin typeface="Times New Roman" pitchFamily="34" charset="0"/>
                <a:ea typeface="Times New Roman" pitchFamily="34" charset="-122"/>
                <a:cs typeface="Times New Roman" pitchFamily="34" charset="-120"/>
              </a:rPr>
              <a:t>Presented a comprehensive analysis of IaaS, PaaS, and SaaS service models in the context of emerging technologies including </a:t>
            </a:r>
            <a:r>
              <a:rPr lang="en-US" sz="1000" dirty="0"/>
              <a:t>virtualization </a:t>
            </a:r>
            <a:r>
              <a:rPr lang="en-US" sz="950" dirty="0">
                <a:solidFill>
                  <a:srgbClr val="000000"/>
                </a:solidFill>
                <a:latin typeface="Times New Roman" pitchFamily="34" charset="0"/>
                <a:ea typeface="Times New Roman" pitchFamily="34" charset="-122"/>
                <a:cs typeface="Times New Roman" pitchFamily="34" charset="-120"/>
              </a:rPr>
              <a:t>and microservices. Found that storage and compute resource management remain central challenges across all three service models.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was analytical and did not propose or evaluate a heuristic algorithm. Storage-specific cost and SLA availability co-optimisation was not examined in the emerging technology context.</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Singh et al. (2022)</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Journal of King Saud Univ.</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Surveyed resource scheduling methods for cloud computing, classifying approaches into meta-heuristic and AI-based categories. Identified dynamic workloads, heterogeneous resources, and conflicting QoS objectives as key challenges in cloud scheduling decisions.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survey emphasised compute task scheduling without addressing storage allocation. The dual objective of minimising storage cost while ensuring SLA-aware availability remained outside the scope of the review.</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2.1 OVERVIEW OF CLOUD COMPUTING AND STORAGE RESOURCE MANAGEMENT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Nanda &amp; Kumar (2021)</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Reviewed meta-heuristic algorithms for cloud resource allocation including GA, PSO, ACO, and SA. Found meta-heuristics achieve higher performance, cost reduction, and improved energy efficiency compared to deterministic methods in dynamic cloud environments.</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review did not focus on storage-specific allocation. Cost and SLA-aware availability were not evaluated as co-objectives, limiting direct applicability to cloud storage resource management scenarios.</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Gupta et al. (2023)</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Conducted a systematic literature review of cloud scheduling techniques from 2019 to 2023 covering mathematical, heuristic, and hyper-heuristic approaches. Found heuristic methods offer the best trade-off between solution quality and computational time.</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review lacked focused analysis of storage resource allocation. Simultaneous optimisation of cost and SLA-aware availability in storage systems was not addressed, leaving a clear research gap.</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SMPHA M (2025)</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Journal of Grid Computing</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Semi-supervised Meta-learning Prediction and Hyper-heuristic Allocation Model for cloud-native microservice resource allocation. Used meta-learning to address scarce performance data while achieving near-optimal multi-objective resource allocation.</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model was designed for microservice compute resources and not cloud storage allocation. The joint objective of storage cost and SLA-aware availability was not part of the hyper-heuristic design.</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2.1 OVERVIEW OF CLOUD COMPUTING AND STORAGE RESOURCE MANAGEMENT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2011680"/>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ML-based Survey (2025)</a:t>
            </a:r>
            <a:endParaRPr lang="en-US" sz="950" dirty="0"/>
          </a:p>
        </p:txBody>
      </p:sp>
      <p:sp>
        <p:nvSpPr>
          <p:cNvPr id="11" name="Shape 9"/>
          <p:cNvSpPr/>
          <p:nvPr/>
        </p:nvSpPr>
        <p:spPr>
          <a:xfrm>
            <a:off x="1600200" y="868680"/>
            <a:ext cx="4023360" cy="2011680"/>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Conducted a comprehensive comparative review of ML-based cloud resource allocation algorithms covering DRL, neural networks, and multi-agent systems. Analysed 10 cutting-edge algorithms from 2022 to 2024 published in high-impact venues.</a:t>
            </a:r>
            <a:endParaRPr lang="en-US" sz="950" dirty="0"/>
          </a:p>
        </p:txBody>
      </p:sp>
      <p:sp>
        <p:nvSpPr>
          <p:cNvPr id="13" name="Shape 11"/>
          <p:cNvSpPr/>
          <p:nvPr/>
        </p:nvSpPr>
        <p:spPr>
          <a:xfrm>
            <a:off x="5623560" y="868680"/>
            <a:ext cx="3474720" cy="2011680"/>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survey focused on ML and AI-based methods rather than lightweight heuristics. Storage-specific allocation and the dual objective of cost and SLA-guaranteed availability were not systematically covered.</a:t>
            </a:r>
            <a:endParaRPr lang="en-US" sz="950" dirty="0"/>
          </a:p>
        </p:txBody>
      </p:sp>
      <p:sp>
        <p:nvSpPr>
          <p:cNvPr id="15" name="Shape 13"/>
          <p:cNvSpPr/>
          <p:nvPr/>
        </p:nvSpPr>
        <p:spPr>
          <a:xfrm>
            <a:off x="182880" y="2880360"/>
            <a:ext cx="1417320" cy="2011680"/>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91693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Osman et al. (2024)</a:t>
            </a:r>
            <a:endParaRPr lang="en-US" sz="950" dirty="0"/>
          </a:p>
        </p:txBody>
      </p:sp>
      <p:sp>
        <p:nvSpPr>
          <p:cNvPr id="17" name="Shape 15"/>
          <p:cNvSpPr/>
          <p:nvPr/>
        </p:nvSpPr>
        <p:spPr>
          <a:xfrm>
            <a:off x="1600200" y="2880360"/>
            <a:ext cx="4023360" cy="2011680"/>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91693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Enhanced the greedy algorithm for cloud load balancing in CloudSim, assigning tasks with longest execution time to least-loaded VMs. Found improved makespan over Round Robin with all VMs completing tasks simultaneously.</a:t>
            </a:r>
            <a:endParaRPr lang="en-US" sz="950" dirty="0"/>
          </a:p>
        </p:txBody>
      </p:sp>
      <p:sp>
        <p:nvSpPr>
          <p:cNvPr id="19" name="Shape 17"/>
          <p:cNvSpPr/>
          <p:nvPr/>
        </p:nvSpPr>
        <p:spPr>
          <a:xfrm>
            <a:off x="5623560" y="2880360"/>
            <a:ext cx="3474720" cy="2011680"/>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91693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addressed compute task scheduling rather than storage resource allocation. SLA compliance and cost minimisation were not modelled as dual objectives for storage-specific heuristic research.</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2.2 STORAGE RESOURCE ALLOCATION IN CLOUD ENVIRONMENTS</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Zaman et al. (2022)</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cost-effective dynamic replication mechanism for cloud storage under pay-as-you-go pricing. Used threshold-based control to reduce the number of replicas without sacrificing availability, achieving lower storage fees compared to static Azure replication.</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threshold-based approach was reactive rather than proactive and did not consider multi-objective optimisation. It did not formally address the trade-off between storage node cost and SLA-guaranteed availability during initial allocation.</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Liu et al. (2022)</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Effeclouds</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Designed Effeclouds, a cost-effective cloud-of-clouds framework for two-tier storage using pricing diversity across multiple cloud providers. Reduced total storage cost while maintaining availability through tiered redundancy and cross-provider data distribution.</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framework was designed for multi-cloud two-tier storage and lacked a formal heuristic model. The cost-SLA availability trade-off was not optimised using a structured node-selection allocation algorithm.</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Liu et al. (2021)</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Hot/Cold Migration</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randomised online migration algorithm for cost optimisation in Storage-as-a-Service (STaaS) clouds addressing the hot-or-cold data migration decision. Adapted data placement dynamically based on access patterns to reduce total storage cost.</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focused on online migration decisions rather than initial storage allocation. SLA-aware availability as a concurrent optimisation objective was not modelled alongside cost minimisation.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2.2 STORAGE RESOURCE ALLOCATION IN CLOUD ENVIRONMENTS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Awad et al. (2021)</a:t>
            </a:r>
            <a:endParaRPr lang="en-US" sz="950" dirty="0"/>
          </a:p>
        </p:txBody>
      </p:sp>
      <p:sp>
        <p:nvSpPr>
          <p:cNvPr id="11" name="Shape 9"/>
          <p:cNvSpPr/>
          <p:nvPr/>
        </p:nvSpPr>
        <p:spPr>
          <a:xfrm>
            <a:off x="1600200" y="876844"/>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an intelligent approach for dynamic data replication in cloud environments using IEEE Access. Dynamically adjusted the number and placement of replicas based on access frequency and availability requirements, reducing cost while maintaining SLA commitments.</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focused on replication management rather than storage node allocation. The heuristic design was not generalised to broader storage allocation decisions involving diverse SLA thresholds and node cost profiles.</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SkyStore (2025)</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VLDB</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Presented SkyStore, a unified object store addressing cost-optimal data management across regions and clouds. Introduced a TTL-based data placement policy that dynamically replicates and evicts objects based on access patterns, reducing overall cost by up to 6x over baselines.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SkyStore was designed for multi-cloud and multi-region object stores rather than single-cloud storage node allocation. The formal dual-objective of minimising allocation cost under SLA availability thresholds was not the primary model.</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CRANE Replica</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Migration (2022)</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CRANE, an efficient replica migration scheme for distributed cloud storage systems. Minimised replica creation time, avoided network congestion, and ensured minimal data availability, achieving 30% reduction in replica creation time over OpenStack Swift.</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focused on replica migration overhead rather than initial storage allocation decisions. The heuristic did not model SLA availability and cost as dual optimisation objectives during the initial allocation process.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2.2 STORAGE RESOURCE ALLOCATION IN CLOUD ENVIRONMENTS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2011680"/>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Hu et al. (2023)</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IIETA</a:t>
            </a:r>
            <a:endParaRPr lang="en-US" sz="950" dirty="0"/>
          </a:p>
        </p:txBody>
      </p:sp>
      <p:sp>
        <p:nvSpPr>
          <p:cNvPr id="11" name="Shape 9"/>
          <p:cNvSpPr/>
          <p:nvPr/>
        </p:nvSpPr>
        <p:spPr>
          <a:xfrm>
            <a:off x="1600200" y="868680"/>
            <a:ext cx="4023360" cy="2011680"/>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Reviewed systematic approaches to data placement, replication, and migration in heterogeneous edge-cloud computing. Identified access latency, cost, workload balance, and security as critical parameters for storage and processing of IoT and social network data.</a:t>
            </a:r>
            <a:endParaRPr lang="en-US" sz="950" dirty="0"/>
          </a:p>
        </p:txBody>
      </p:sp>
      <p:sp>
        <p:nvSpPr>
          <p:cNvPr id="13" name="Shape 11"/>
          <p:cNvSpPr/>
          <p:nvPr/>
        </p:nvSpPr>
        <p:spPr>
          <a:xfrm>
            <a:off x="5623560" y="868680"/>
            <a:ext cx="3474720" cy="2011680"/>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review was descriptive and did not propose or evaluate a specific heuristic allocation model. The dual-objective of cost and SLA-aware availability in cloud-only storage allocation was outside its edge-focused scope.</a:t>
            </a:r>
            <a:endParaRPr lang="en-US" sz="950" dirty="0"/>
          </a:p>
        </p:txBody>
      </p:sp>
      <p:sp>
        <p:nvSpPr>
          <p:cNvPr id="15" name="Shape 13"/>
          <p:cNvSpPr/>
          <p:nvPr/>
        </p:nvSpPr>
        <p:spPr>
          <a:xfrm>
            <a:off x="182880" y="2880360"/>
            <a:ext cx="1417320" cy="2011680"/>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91693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Storage Cost</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Optimisation Survey</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(2023) – Arxiv</a:t>
            </a:r>
            <a:endParaRPr lang="en-US" sz="950" dirty="0"/>
          </a:p>
        </p:txBody>
      </p:sp>
      <p:sp>
        <p:nvSpPr>
          <p:cNvPr id="17" name="Shape 15"/>
          <p:cNvSpPr/>
          <p:nvPr/>
        </p:nvSpPr>
        <p:spPr>
          <a:xfrm>
            <a:off x="1600200" y="2880360"/>
            <a:ext cx="4023360" cy="2011680"/>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91693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Surveyed recent approaches for optimising storage costs in cloud environments, covering multi-tiering, deduplication, caching, and workload-aware data placement. Found that most approaches optimise performance or cost individually without jointly addressing availability constraints.</a:t>
            </a:r>
            <a:endParaRPr lang="en-US" sz="950" dirty="0"/>
          </a:p>
        </p:txBody>
      </p:sp>
      <p:sp>
        <p:nvSpPr>
          <p:cNvPr id="19" name="Shape 17"/>
          <p:cNvSpPr/>
          <p:nvPr/>
        </p:nvSpPr>
        <p:spPr>
          <a:xfrm>
            <a:off x="5623560" y="2880360"/>
            <a:ext cx="3474720" cy="2011680"/>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91693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survey confirmed the absence of a unified heuristic that jointly minimises storage cost and guarantees SLA-aware availability. This gap directly motivates the proposed study's dual-objective allocation model.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2.3 SERVICE LEVEL AGREEMENTS (SLAs) IN CLOUD STORAGE</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Heidari &amp;</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Navimipour</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(2021) – PeerJ CS</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new SLA-aware method for discovering cloud services using an improved inverted ant colony optimisation algorithm. The method improved service discovery accuracy and SLA compliance rate compared to standard ant colony approaches on benchmark datasets.</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addressed service discovery rather than storage resource allocation. Cost minimisation as a co-objective with SLA-aware storage availability was not explored in the ant colony framework.</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Geeta &amp; Prasad</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(2023)</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self-improved algorithm for cloud load balancing under SLA constraints. The method dynamically redistributed workloads to avoid SLA violations under fluctuating demand patterns.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self-improved algorithm focused on compute load balancing and not storage allocation. The interaction between storage node cost and SLA-guaranteed availability thresholds was not modelled in the optimisation design.</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Abedi et al. (2022)</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dynamic resource allocation using an improved Firefly Optimisation Algorithm in cloud environments. Dynamically adjusted VM placements to reduce energy costs and SLA violation rates compared to static allocation baselines.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Firefly approach was applied to VM placement and energy management, not storage-specific allocation. Balancing cost and SLA-aware storage availability as dual objectives was outside the scope of this study.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2.3 SERVICE LEVEL AGREEMENTS (SLAs) IN CLOUD STORAGE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Zhanuzak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(2024) – IEEE Access</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an enhanced dynamic load balancing algorithm for superior task allocation in cloud platforms. Achieved improved resource utilisation and reduced SLA violation rates under fluctuating workloads with reduced migration overhead.</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addressed compute task load balancing and not storage resource allocation. The interaction between storage allocation decisions, cost, and SLA-aware availability was not the focus of the research.</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Bashir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(2022) – Cluster</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Computing</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multi-factor nature-inspired SLA-aware energy efficient resource management approach for cloud environments. Combined SLA awareness with nature-inspired optimisation to balance energy consumption and QoS compliance across dynamic cloud workloads.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focused on energy-efficient VM resource management rather than storage allocation. Cost and SLA-aware availability as a storage-specific dual objective were not examined in the multi-factor optimisation model.</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PSO-SA Hybrid</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(2021)</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hybrid Particle Swarm Optimisation and Simulated Annealing task scheduling algorithm combining global search with local refinement for cloud environments. Achieved improved SLA compliance and reduced execution time over standalone PSO and SA baselines.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PSO-SA hybrid was applied to task scheduling rather than storage allocation. The dual objective of storage cost and SLA-guaranteed availability was not part of the hybrid model's fitness function or evaluation.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2.3 SERVICE LEVEL AGREEMENTS (SLAs) IN CLOUD STORAGE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2011680"/>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Kumar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(2025) – Hybrid</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PSO-GA</a:t>
            </a:r>
            <a:endParaRPr lang="en-US" sz="950" dirty="0"/>
          </a:p>
        </p:txBody>
      </p:sp>
      <p:sp>
        <p:nvSpPr>
          <p:cNvPr id="11" name="Shape 9"/>
          <p:cNvSpPr/>
          <p:nvPr/>
        </p:nvSpPr>
        <p:spPr>
          <a:xfrm>
            <a:off x="1600200" y="868680"/>
            <a:ext cx="4023360" cy="2011680"/>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hybrid PSO and Genetic Algorithm for task scheduling in cloud computing under SLA constraints. The hybrid leveraged PSO for global exploration and GA for local exploitation, improving load balancing and SLA adherence across heterogeneous VMs.</a:t>
            </a:r>
            <a:endParaRPr lang="en-US" sz="950" dirty="0"/>
          </a:p>
        </p:txBody>
      </p:sp>
      <p:sp>
        <p:nvSpPr>
          <p:cNvPr id="13" name="Shape 11"/>
          <p:cNvSpPr/>
          <p:nvPr/>
        </p:nvSpPr>
        <p:spPr>
          <a:xfrm>
            <a:off x="5623560" y="868680"/>
            <a:ext cx="3474720" cy="2011680"/>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PSO-GA hybrid targeted compute task scheduling and not storage resource allocation. The formal modelling of a cost-availability scoring function for storage node selection was not addressed in the study.</a:t>
            </a:r>
            <a:endParaRPr lang="en-US" sz="950" dirty="0"/>
          </a:p>
        </p:txBody>
      </p:sp>
      <p:sp>
        <p:nvSpPr>
          <p:cNvPr id="15" name="Shape 13"/>
          <p:cNvSpPr/>
          <p:nvPr/>
        </p:nvSpPr>
        <p:spPr>
          <a:xfrm>
            <a:off x="182880" y="2880360"/>
            <a:ext cx="1417320" cy="2011680"/>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91693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Roy et al. (2021)</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SLAQA</a:t>
            </a:r>
            <a:endParaRPr lang="en-US" sz="950" dirty="0"/>
          </a:p>
        </p:txBody>
      </p:sp>
      <p:sp>
        <p:nvSpPr>
          <p:cNvPr id="17" name="Shape 15"/>
          <p:cNvSpPr/>
          <p:nvPr/>
        </p:nvSpPr>
        <p:spPr>
          <a:xfrm>
            <a:off x="1600200" y="2880360"/>
            <a:ext cx="4023360" cy="2011680"/>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91693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SLAQA, a quality-level aware scheduling framework for task graphs on heterogeneous distributed systems. Incorporated SLA quality tiers into the scheduling decision to reduce violations.</a:t>
            </a:r>
            <a:endParaRPr lang="en-US" sz="950" dirty="0"/>
          </a:p>
        </p:txBody>
      </p:sp>
      <p:sp>
        <p:nvSpPr>
          <p:cNvPr id="19" name="Shape 17"/>
          <p:cNvSpPr/>
          <p:nvPr/>
        </p:nvSpPr>
        <p:spPr>
          <a:xfrm>
            <a:off x="5623560" y="2880360"/>
            <a:ext cx="3474720" cy="2011680"/>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91693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SLAQA was designed for task graph scheduling on heterogeneous systems rather than cloud storage allocation. Storage-specific cost and SLA availability co-optimisation were not part of the scheduling model.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2.4 HEURISTIC OPTIMIZATION TECHNIQUES FOR CLOUD RESOURCE ALLOCATION</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HGWO (2025)</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ScienceDirect</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Hybrid Grey Wolf Optimisation combining GWO with Simulated Annealing for workflow scheduling in cloud environments. Optimised makespan and execution cost while ensuring effective load balancing across VMs and preventing resource congestion.</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HGWO model was applied to workflow scheduling rather than storage resource allocation. The dual objective of storage cost and SLA-guaranteed availability was not captured in the hybrid fitness function.</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Mandal (2024)</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GWO Cloud</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Grey Wolf Optimiser-based resource allocation and optimisation algorithm for cloud computing environments. Used GWO's alpha-beta-delta hierarchy to assign resources efficiently, minimising transmission costs across IoT and cloud gateways.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GWO approach targeted IoT resource allocation and gateway transmission cost, not cloud storage allocation. SLA-aware availability as a co-objective with storage cost was not formally modelled.</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Gohil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(2022) – Improved</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GWO</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an improved Grey Wolf Optimiser for cloud load balancing addressing the sudden rise of data storage and computation demands. Enhanced GWO's position update to achieve balanced workload distribution across virtual machines.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improved GWO addressed load balancing rather than storage resource allocation. The trade-off between storage node cost and SLA-guaranteed availability during allocation was not explored in the model.</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2.4 HEURISTIC OPTIMIZATION TECHNIQUES FOR CLOUD RESOURCE ALLOCATION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Shankar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(2025) – Multi-GWO</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an intelligent cloud infrastructure approach using improved multi-objective GWO for dynamic VM placement. Considered energy efficiency, resource utilisation, and load balancing simultaneously in the optimisation framework.</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multi-objective GWO focused on VM placement and energy efficiency rather than storage allocation. Cost and SLA-aware availability for storage node selection were not included in the multi-objective fitness design.</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Tanha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(2021) – GA-SA</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Hybrid</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hybrid meta-heuristic task scheduling algorithm combining Genetic Algorithm and thermodynamic Simulated Annealing for cloud environments. Improved convergence speed and solution quality over standalone approaches.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GA-SA hybrid was designed for compute task scheduling and not storage resource allocation. SA's non-deterministic convergence may be unsuitable for real-time storage allocation requiring consistent SLA performance.</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ACO+WOA (2025)</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LBAW</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Presented LBAW, a novel load balancing mechanism combining ACO for task allocation and Whale Optimisation for resource migration. Achieved 12% improvement in resource utilisation, 13% reduction in makespan, and 27% decline in response time.</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LBAW approach was evaluated on compute task load balancing rather than storage allocation. SLA-aware availability and storage cost were not modelled as the primary objectives of the ACO-WOA optimisation.</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2.4 HEURISTIC OPTIMIZATION TECHNIQUES FOR CLOUD RESOURCE ALLOCATION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2011680"/>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Container Penalty</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PSO (2025)</a:t>
            </a:r>
            <a:endParaRPr lang="en-US" sz="950" dirty="0"/>
          </a:p>
        </p:txBody>
      </p:sp>
      <p:sp>
        <p:nvSpPr>
          <p:cNvPr id="11" name="Shape 9"/>
          <p:cNvSpPr/>
          <p:nvPr/>
        </p:nvSpPr>
        <p:spPr>
          <a:xfrm>
            <a:off x="1600200" y="868680"/>
            <a:ext cx="4023360" cy="2011680"/>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penalty-based PSO algorithm for container placement in cloud data centres addressing resource fragmentation and load imbalance. Used penalty functions to avoid SLA-violating placements while optimising resource utilisation across nodes.</a:t>
            </a:r>
            <a:endParaRPr lang="en-US" sz="950" dirty="0"/>
          </a:p>
        </p:txBody>
      </p:sp>
      <p:sp>
        <p:nvSpPr>
          <p:cNvPr id="13" name="Shape 11"/>
          <p:cNvSpPr/>
          <p:nvPr/>
        </p:nvSpPr>
        <p:spPr>
          <a:xfrm>
            <a:off x="5623560" y="868680"/>
            <a:ext cx="3474720" cy="2011680"/>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penalty PSO was designed for container placement and not cloud storage allocation. The dual objective of minimising storage cost while maintaining SLA-guaranteed availability was not the focus of the penalty-based model.</a:t>
            </a:r>
            <a:endParaRPr lang="en-US" sz="950" dirty="0"/>
          </a:p>
        </p:txBody>
      </p:sp>
      <p:sp>
        <p:nvSpPr>
          <p:cNvPr id="15" name="Shape 13"/>
          <p:cNvSpPr/>
          <p:nvPr/>
        </p:nvSpPr>
        <p:spPr>
          <a:xfrm>
            <a:off x="182880" y="2880360"/>
            <a:ext cx="1417320" cy="2011680"/>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91693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Hybrid GA Load</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Balancing (2025)</a:t>
            </a:r>
            <a:endParaRPr lang="en-US" sz="950" dirty="0"/>
          </a:p>
        </p:txBody>
      </p:sp>
      <p:sp>
        <p:nvSpPr>
          <p:cNvPr id="17" name="Shape 15"/>
          <p:cNvSpPr/>
          <p:nvPr/>
        </p:nvSpPr>
        <p:spPr>
          <a:xfrm>
            <a:off x="1600200" y="2880360"/>
            <a:ext cx="4023360" cy="2011680"/>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91693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an optimised Genetic Algorithm with additional parameters for assessing resource status before allocation, addressing scheduling and load-balancing challenges in cloud infrastructure under varying workloads.</a:t>
            </a:r>
            <a:endParaRPr lang="en-US" sz="950" dirty="0"/>
          </a:p>
        </p:txBody>
      </p:sp>
      <p:sp>
        <p:nvSpPr>
          <p:cNvPr id="19" name="Shape 17"/>
          <p:cNvSpPr/>
          <p:nvPr/>
        </p:nvSpPr>
        <p:spPr>
          <a:xfrm>
            <a:off x="5623560" y="2880360"/>
            <a:ext cx="3474720" cy="2011680"/>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91693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GA was applied to compute load balancing and not storage resource allocation. The formal dual-objective of storage cost and SLA-aware availability during allocation decisions was not addressed.</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2.5 COST REDUCTION STRATEGIES IN CLOUD STORAGE</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Liu et al. (2023)</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ACM Computing</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Surveys</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Conducted a comprehensive survey on cost optimisation for cloud storage from user perspectives. Key strategies include data tiering, deduplication, compression, and caching, with a universal trade-off between performance and cost across all approaches.</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survey covered broad optimisation strategies without proposing a specific heuristic model. SLA-aware availability as a co-constraint with cost optimisation in storage node allocation was not directly addressed.</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Liu et al. (2022)</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RLTiering</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RLTiering, a cost-driven auto-tiering system for two-tier cloud storage using Deep Reinforcement Learning. Dynamically moved data between storage tiers based on access patterns to reduce total cost.</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RL-based tiering required extensive training data and infrastructure. It did not provide a lightweight heuristic allocation model usable without training history or prior workload profiles for real-time decisions.</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SkyStore Cost</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(2025)</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Evaluated SkyStore's TTL-based cost optimisation policy for object stores across regions and clouds, achieving up to 6x cost reduction over academic baselines and commercial alternatives under real-world workload traces.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SkyStore was designed for multi-cloud environments rather than single-provider storage allocation. A formal heuristic for cloud storage node selection balancing cost and SLA-aware availability was not proposed.</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2.5 COST REDUCTION STRATEGIES IN CLOUD STORAGE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Zaman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(2022) –</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Replication</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dynamic replication modelling for cloud storage under pay-as-you-go pricing. Threshold-based replica management reduced cloud replicas and storage fees compared to static Azure three-node replication, achieving cost-effectiveness without sacrificing availability.</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threshold-based approach was reactive and did not implement a multi-objective allocation model. The formal trade-off between storage node cost and SLA-guaranteed availability during allocation was not explored.</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Online OSN</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Replication (2024)</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ScienceDirect</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online dynamic replication and placement algorithms for cost optimisation in two-tier multi-cloud social network storage. Exploited pricing differences between providers and storage classes to reduce monetary costs while maintaining data availability.</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approach was specific to social network data with predictable access patterns and did not generalise to diverse cloud storage workloads or model SLA-aware availability thresholds as a formal optimisation constraint.</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Towards Optimizing</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Cloud Storage</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(2023) – Arxiv</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workload-aware data placement strategy for cloud storage that combined multi-tiering with access pattern analysis to reduce storage costs. Found that workload-aware tiering outperformed static placement across multiple real-world workloads.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placement strategy was workload-pattern-driven and did not incorporate SLA availability as a formal constraint in the optimisation. The cost-availability dual objective for storage node allocation remained unaddressed.</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2.5 COST REDUCTION STRATEGIES IN CLOUD STORAGE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2011680"/>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GA-VM Energy</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QoS (2024)</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Concurrency</a:t>
            </a:r>
            <a:endParaRPr lang="en-US" sz="950" dirty="0"/>
          </a:p>
        </p:txBody>
      </p:sp>
      <p:sp>
        <p:nvSpPr>
          <p:cNvPr id="11" name="Shape 9"/>
          <p:cNvSpPr/>
          <p:nvPr/>
        </p:nvSpPr>
        <p:spPr>
          <a:xfrm>
            <a:off x="1600200" y="868680"/>
            <a:ext cx="4023360" cy="2011680"/>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GA-based VM scheduling algorithm for energy-efficient resource management in cloud computing, addressing high energy consumption in data centres. Compared DVFS, IMC, and GA-based approaches, showing GA reduces VM migration and energy costs.</a:t>
            </a:r>
            <a:endParaRPr lang="en-US" sz="950" dirty="0"/>
          </a:p>
        </p:txBody>
      </p:sp>
      <p:sp>
        <p:nvSpPr>
          <p:cNvPr id="13" name="Shape 11"/>
          <p:cNvSpPr/>
          <p:nvPr/>
        </p:nvSpPr>
        <p:spPr>
          <a:xfrm>
            <a:off x="5623560" y="868680"/>
            <a:ext cx="3474720" cy="2011680"/>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GA was applied to VM scheduling and energy management, not storage-specific allocation. Storage-specific allocation decisions and the joint optimisation of storage cost and SLA-guaranteed availability were not evaluated.</a:t>
            </a:r>
            <a:endParaRPr lang="en-US" sz="950" dirty="0"/>
          </a:p>
        </p:txBody>
      </p:sp>
      <p:sp>
        <p:nvSpPr>
          <p:cNvPr id="15" name="Shape 13"/>
          <p:cNvSpPr/>
          <p:nvPr/>
        </p:nvSpPr>
        <p:spPr>
          <a:xfrm>
            <a:off x="182880" y="2880360"/>
            <a:ext cx="1417320" cy="2011680"/>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91693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Hybrid Jaya-GWO</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(2024)</a:t>
            </a:r>
            <a:endParaRPr lang="en-US" sz="950" dirty="0"/>
          </a:p>
        </p:txBody>
      </p:sp>
      <p:sp>
        <p:nvSpPr>
          <p:cNvPr id="17" name="Shape 15"/>
          <p:cNvSpPr/>
          <p:nvPr/>
        </p:nvSpPr>
        <p:spPr>
          <a:xfrm>
            <a:off x="1600200" y="2880360"/>
            <a:ext cx="4023360" cy="2011680"/>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91693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hybrid Jaya Grey Wolf Optimisation for task clustering and placement in fog-cloud ecosystems. Achieved 51% improvement in load balance variance and 30% improvement in response time, evaluated on the LCG real-time dataset.</a:t>
            </a:r>
            <a:endParaRPr lang="en-US" sz="950" dirty="0"/>
          </a:p>
        </p:txBody>
      </p:sp>
      <p:sp>
        <p:nvSpPr>
          <p:cNvPr id="19" name="Shape 17"/>
          <p:cNvSpPr/>
          <p:nvPr/>
        </p:nvSpPr>
        <p:spPr>
          <a:xfrm>
            <a:off x="5623560" y="2880360"/>
            <a:ext cx="3474720" cy="2011680"/>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91693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hybrid focused on fog-cloud task placement rather than cloud storage allocation. The dual objective of minimising storage cost while satisfying SLA availability thresholds was not part of the model design.</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2.6 SLA-AWARE AVAILABILITY MANAGEMENT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Reffad &amp; Alti</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(2023)</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semantic-based multi-objective NSGA-II optimisation for QoS and energy efficiency across IoT, fog, and cloud ERP platforms. Dynamic cooperative strategies significantly improved SLA compliance and energy performance simultaneously.</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work optimised QoS and energy rather than storage cost and availability. NSGA-II is computationally expensive and may not scale to large cloud storage allocation scenarios requiring real-time decisions.</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Alsadie (2021)</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IEEE Access</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TSMGWO, a task scheduling method using multi-objective Grey Wolf Optimiser for cloud data centres. The method balanced task completion time, resource utilisation, and SLA compliance simultaneously in heterogeneous cloud environments.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TSMGWO was designed for compute task scheduling rather than storage resource allocation. The trade-off between storage node cost and availability under SLA constraints was not modelled as a dual objective.</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Pirozmand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(2021) – Neural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Comp. Apps</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multi-objective hybrid Genetic Algorithm for cloud task scheduling. The hybrid GA improved SLA compliance and makespan through combined crossover and mutation strategies adapted for cloud scheduling environments.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hybrid GA was applied to task scheduling in compute environments. Storage-specific resource allocation and the dual objective of cost and SLA-guaranteed availability were not part of the experimental design.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2.6 SLA-AWARE AVAILABILITY MANAGEMENT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Geeta &amp; Prasad</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(2023) – SOCA</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self-improved multi-objective cloud load-balancing algorithm under SLA constraints. The algorithm dynamically redistributed tasks to avoid SLA violations while improving resource utilisation compared to static load balancing approaches.</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study focused on compute load balancing rather than storage allocation. A formal heuristic for jointly optimising storage cost and SLA-guaranteed availability was not proposed or validated.</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Zuo et al. (2022)</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Biomimetics</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multi-objective scheduling method using Ant Colony Algorithm for cloud computing, targeting completion time, resource utilisation, and energy efficiency. Evaluated on CloudSim with multiple workload sizes showing improved QoS over baseline methods.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ACO method addressed general task scheduling and energy efficiency rather than storage allocation. Cost and SLA-aware availability as dual objectives for cloud storage node selection were not considered.</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Natesan &amp;</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Chokkalingam</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(2022) – Multi-GWO</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multi-objective task scheduling approach using multi-objective GWO for heterogeneous cloud environments. Balanced execution time, resource utilisation, and energy consumption simultaneously across diverse cloud node configurations.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multi-objective GWO focused on compute task scheduling and energy efficiency. Storage allocation decisions and the cost-availability trade-off under SLA constraints were not examined in the model.</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2.6 SLA-AWARE AVAILABILITY MANAGEMENT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2011680"/>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Moori et al.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(2022) – LATOC</a:t>
            </a:r>
            <a:endParaRPr lang="en-US" sz="950" dirty="0"/>
          </a:p>
        </p:txBody>
      </p:sp>
      <p:sp>
        <p:nvSpPr>
          <p:cNvPr id="11" name="Shape 9"/>
          <p:cNvSpPr/>
          <p:nvPr/>
        </p:nvSpPr>
        <p:spPr>
          <a:xfrm>
            <a:off x="1600200" y="868680"/>
            <a:ext cx="4023360" cy="2011680"/>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LATOC, an enhanced load balancing algorithm combining AHP-TOPSIS and OPSO for cloud computing. Improved resource selection quality and reduced SLA violations by incorporating multi-criteria decision-making into the allocation process.</a:t>
            </a:r>
            <a:endParaRPr lang="en-US" sz="950" dirty="0"/>
          </a:p>
        </p:txBody>
      </p:sp>
      <p:sp>
        <p:nvSpPr>
          <p:cNvPr id="13" name="Shape 11"/>
          <p:cNvSpPr/>
          <p:nvPr/>
        </p:nvSpPr>
        <p:spPr>
          <a:xfrm>
            <a:off x="5623560" y="868680"/>
            <a:ext cx="3474720" cy="2011680"/>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LATOC focused on compute load balancing using multi-criteria methods rather than storage-specific allocation. The interaction between storage cost and SLA-guaranteed availability was not evaluated as the primary objective.</a:t>
            </a:r>
            <a:endParaRPr lang="en-US" sz="950" dirty="0"/>
          </a:p>
        </p:txBody>
      </p:sp>
      <p:sp>
        <p:nvSpPr>
          <p:cNvPr id="15" name="Shape 13"/>
          <p:cNvSpPr/>
          <p:nvPr/>
        </p:nvSpPr>
        <p:spPr>
          <a:xfrm>
            <a:off x="182880" y="2880360"/>
            <a:ext cx="1417320" cy="2011680"/>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91693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Haris &amp; Zubair</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(2022)</a:t>
            </a:r>
            <a:endParaRPr lang="en-US" sz="950" dirty="0"/>
          </a:p>
        </p:txBody>
      </p:sp>
      <p:sp>
        <p:nvSpPr>
          <p:cNvPr id="17" name="Shape 15"/>
          <p:cNvSpPr/>
          <p:nvPr/>
        </p:nvSpPr>
        <p:spPr>
          <a:xfrm>
            <a:off x="1600200" y="2880360"/>
            <a:ext cx="4023360" cy="2011680"/>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91693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Mantaray-modified multi-objective Harris Hawk Optimisation for optimal load balancing in cloud computing. Showed improved SLA compliance rate and resource utilisation compared to single-objective baselines across multiple workload types.</a:t>
            </a:r>
            <a:endParaRPr lang="en-US" sz="950" dirty="0"/>
          </a:p>
        </p:txBody>
      </p:sp>
      <p:sp>
        <p:nvSpPr>
          <p:cNvPr id="19" name="Shape 17"/>
          <p:cNvSpPr/>
          <p:nvPr/>
        </p:nvSpPr>
        <p:spPr>
          <a:xfrm>
            <a:off x="5623560" y="2880360"/>
            <a:ext cx="3474720" cy="2011680"/>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91693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Harris Hawk approach targeted compute VM load balancing rather than storage resource allocation. Cost as a co-objective alongside SLA-aware availability in storage contexts was not formally modelled.</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2.7 SIMULATION FRAMEWORKS AND DATASETS IN CLOUD STORAGE RESEARCH</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Kang et al. (2022)</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Google Borg V3</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Analysed Google Borg cluster trace V3 studying workload heterogeneity and resource utilisation patterns. Found highly dynamic environments across eight distributed clusters with data exceeding 2.4 TiB, enabling large-scale scheduling and allocation research.</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trace was collected from compute-centric Borg clusters and does not specifically isolate storage workload behaviour. Reverse-engineering storage allocation patterns from these traces requires significant preprocessing.</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Alibaba GPU</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Trace (2023)</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Released production cluster traces from over 6,200 GPUs across 1,200 machines used to model AI workload fragmentation in a Kubernetes Scheduler Simulator. The FGD policy demonstrated superior performance over Best-Fit and Dot-Product scheduling methods.</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trace captures GPU and compute resource usage rather than block or object storage allocation. Its AI/ML workload focus limits direct applicability to general-purpose cloud storage resource allocation studies.</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GSAGA (2022)</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J. Supercomputing</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GSAGA, a hybrid algorithm for task scheduling in cloud infrastructure combining greedy search with genetic algorithm crossover. Evaluated on Google Cluster Trace data, demonstrating improved makespan and resource utilisation over GA and greedy baselines.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GSAGA used Google Cluster Traces for compute task scheduling evaluation rather than storage allocation. The cost-availability trade-off in storage node selection under SLA conditions was not modelled.</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2.7 SIMULATION FRAMEWORKS AND DATASETS IN CLOUD STORAGE RESEARCH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DPSO-GA (2025)</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Applied a Deep PSO-GA hybrid for cloud load balancing using Google Cluster Traces as benchmark. Results showed improved precision, accuracy, and load allocation efficiency compared to individual PSO and GA baselines across multiple workload types.</a:t>
            </a:r>
            <a:endParaRPr lang="en-US" sz="950" dirty="0"/>
          </a:p>
        </p:txBody>
      </p:sp>
      <p:sp>
        <p:nvSpPr>
          <p:cNvPr id="13" name="Shape 11"/>
          <p:cNvSpPr/>
          <p:nvPr/>
        </p:nvSpPr>
        <p:spPr>
          <a:xfrm>
            <a:off x="5669280" y="886968"/>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algn="just"/>
            <a:r>
              <a:rPr lang="en-US" sz="1000" dirty="0"/>
              <a:t>The study used Google traces that focus on computing, not on storage. It also did not look at how cost and availability are balanced when setting up cloud storage nodes based on SLA limits.</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PSO-SA Study</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(2021)</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hybrid PSO-Simulated Annealing for task scheduling in cloud infrastructure. Evaluated using standard CloudSim benchmark workloads, showing that combining global and local search reduced SLA violations and improved resource utilisation.</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CloudSim evaluation used compute-centric workloads rather than storage traces. The study did not assess storage-specific cost and SLA availability metrics as primary simulation performance indicators.</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SLAQA</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Simulation (2021)</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Evaluated SLAQA scheduling framework on heterogeneous distributed computing environments using synthetic task graph benchmarks. Measured SLA quality-level compliance across multiple tiers, achieving improved adherence to differentiated SLA commitments.</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simulation used synthetic task graph workloads rather than real-world cloud storage traces. Storage cost and availability as dual simulation metrics under real workload patterns were not evaluated.</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2.7 SIMULATION FRAMEWORKS AND DATASETS IN CLOUD STORAGE RESEARCH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2011680"/>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Locust CloudSim</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(2025)</a:t>
            </a:r>
            <a:endParaRPr lang="en-US" sz="950" dirty="0"/>
          </a:p>
        </p:txBody>
      </p:sp>
      <p:sp>
        <p:nvSpPr>
          <p:cNvPr id="11" name="Shape 9"/>
          <p:cNvSpPr/>
          <p:nvPr/>
        </p:nvSpPr>
        <p:spPr>
          <a:xfrm>
            <a:off x="1600200" y="868680"/>
            <a:ext cx="4023360" cy="2011680"/>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Evaluated a bio-inspired locust swarm algorithm using CloudSim toolkit with real workload traces. Showed 40% reduction in SLA violations, 32% reduction in energy consumption, and 68% reduction in VM migrations compared to existing benchmarks.</a:t>
            </a:r>
            <a:endParaRPr lang="en-US" sz="950" dirty="0"/>
          </a:p>
        </p:txBody>
      </p:sp>
      <p:sp>
        <p:nvSpPr>
          <p:cNvPr id="13" name="Shape 11"/>
          <p:cNvSpPr/>
          <p:nvPr/>
        </p:nvSpPr>
        <p:spPr>
          <a:xfrm>
            <a:off x="5623560" y="868680"/>
            <a:ext cx="3474720" cy="2011680"/>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CloudSim evaluation targeted VM consolidation and energy metrics rather than storage allocation. Storage-specific workload traces and cost-SLA availability co-optimisation were not the primary simulation objectives.</a:t>
            </a:r>
            <a:endParaRPr lang="en-US" sz="950" dirty="0"/>
          </a:p>
        </p:txBody>
      </p:sp>
      <p:sp>
        <p:nvSpPr>
          <p:cNvPr id="15" name="Shape 13"/>
          <p:cNvSpPr/>
          <p:nvPr/>
        </p:nvSpPr>
        <p:spPr>
          <a:xfrm>
            <a:off x="182880" y="2880360"/>
            <a:ext cx="1417320" cy="2011680"/>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916936"/>
            <a:ext cx="13258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OpenStack</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Dataset (2025)</a:t>
            </a:r>
            <a:endParaRPr lang="en-US" sz="950" dirty="0"/>
          </a:p>
        </p:txBody>
      </p:sp>
      <p:sp>
        <p:nvSpPr>
          <p:cNvPr id="17" name="Shape 15"/>
          <p:cNvSpPr/>
          <p:nvPr/>
        </p:nvSpPr>
        <p:spPr>
          <a:xfrm>
            <a:off x="1600200" y="2880360"/>
            <a:ext cx="4023360" cy="2011680"/>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916936"/>
            <a:ext cx="393192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Presented a dataset of over 64 million records from a private OpenStack cloud collected over 12 months, capturing resource allocation quotas, VM specifications, and utilisation for users and projects across academic computing environments.</a:t>
            </a:r>
            <a:endParaRPr lang="en-US" sz="950" dirty="0"/>
          </a:p>
        </p:txBody>
      </p:sp>
      <p:sp>
        <p:nvSpPr>
          <p:cNvPr id="19" name="Shape 17"/>
          <p:cNvSpPr/>
          <p:nvPr/>
        </p:nvSpPr>
        <p:spPr>
          <a:xfrm>
            <a:off x="5623560" y="2880360"/>
            <a:ext cx="3474720" cy="2011680"/>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916936"/>
            <a:ext cx="3383280" cy="193852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dataset was from an academic private cloud with limited generalisability to commercial cloud storage scenarios. Storage-specific SLA availability traces and cost allocation metrics were not explicitly captured.</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2.8 RESEARCH GAPS AND SUMMARY</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1389888"/>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Liu M., Pan L.</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&amp; Liu S. (2023)</a:t>
            </a:r>
            <a:endParaRPr lang="en-US" sz="950" dirty="0"/>
          </a:p>
        </p:txBody>
      </p:sp>
      <p:sp>
        <p:nvSpPr>
          <p:cNvPr id="11" name="Shape 9"/>
          <p:cNvSpPr/>
          <p:nvPr/>
        </p:nvSpPr>
        <p:spPr>
          <a:xfrm>
            <a:off x="1600200" y="868680"/>
            <a:ext cx="4023360" cy="1389888"/>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Conducted a comprehensive survey of cloud storage cost optimisation strategies from user perspectives. Covered data tiering, deduplication, compression, caching, and heuristic-based migration algorithms. Confirmed that reviewed heuristics optimise cost or performance individually, with no unified model jointly minimising storage cost and guaranteeing SLA-aware availability across storage nodes.</a:t>
            </a:r>
            <a:endParaRPr lang="en-US" sz="950" dirty="0"/>
          </a:p>
        </p:txBody>
      </p:sp>
      <p:sp>
        <p:nvSpPr>
          <p:cNvPr id="13" name="Shape 11"/>
          <p:cNvSpPr/>
          <p:nvPr/>
        </p:nvSpPr>
        <p:spPr>
          <a:xfrm>
            <a:off x="5623560" y="868680"/>
            <a:ext cx="3474720" cy="1389888"/>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This finding directly establishes Gap 1: no dual-objective heuristic simultaneously scoring storage nodes by cost and SLA-guaranteed availability exists in the literature. A formal α(Cost) + β(1-Availability) scoring model for storage node selection remains unvalidated, directly motivating the proposed study.</a:t>
            </a:r>
            <a:endParaRPr lang="en-US" sz="950" dirty="0"/>
          </a:p>
        </p:txBody>
      </p:sp>
      <p:sp>
        <p:nvSpPr>
          <p:cNvPr id="15" name="Shape 13"/>
          <p:cNvSpPr/>
          <p:nvPr/>
        </p:nvSpPr>
        <p:spPr>
          <a:xfrm>
            <a:off x="182880" y="2258568"/>
            <a:ext cx="1417320" cy="1389888"/>
          </a:xfrm>
          <a:prstGeom prst="rect">
            <a:avLst/>
          </a:prstGeom>
          <a:solidFill>
            <a:srgbClr val="F2F2F2"/>
          </a:solidFill>
          <a:ln w="6350">
            <a:solidFill>
              <a:srgbClr val="BFBFBF"/>
            </a:solidFill>
            <a:prstDash val="solid"/>
          </a:ln>
        </p:spPr>
        <p:txBody>
          <a:bodyPr/>
          <a:lstStyle/>
          <a:p>
            <a:endParaRPr lang="en-US"/>
          </a:p>
        </p:txBody>
      </p:sp>
      <p:sp>
        <p:nvSpPr>
          <p:cNvPr id="16" name="Text 14"/>
          <p:cNvSpPr/>
          <p:nvPr/>
        </p:nvSpPr>
        <p:spPr>
          <a:xfrm>
            <a:off x="228600" y="2295144"/>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Liu S., Mo X.,</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Hershcovitch M.</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et al. (2025)</a:t>
            </a:r>
            <a:endParaRPr lang="en-US" sz="950" dirty="0"/>
          </a:p>
        </p:txBody>
      </p:sp>
      <p:sp>
        <p:nvSpPr>
          <p:cNvPr id="17" name="Shape 15"/>
          <p:cNvSpPr/>
          <p:nvPr/>
        </p:nvSpPr>
        <p:spPr>
          <a:xfrm>
            <a:off x="1600200" y="2258568"/>
            <a:ext cx="4023360" cy="1389888"/>
          </a:xfrm>
          <a:prstGeom prst="rect">
            <a:avLst/>
          </a:prstGeom>
          <a:solidFill>
            <a:srgbClr val="F2F2F2"/>
          </a:solidFill>
          <a:ln w="6350">
            <a:solidFill>
              <a:srgbClr val="BFBFBF"/>
            </a:solidFill>
            <a:prstDash val="solid"/>
          </a:ln>
        </p:spPr>
        <p:txBody>
          <a:bodyPr/>
          <a:lstStyle/>
          <a:p>
            <a:endParaRPr lang="en-US"/>
          </a:p>
        </p:txBody>
      </p:sp>
      <p:sp>
        <p:nvSpPr>
          <p:cNvPr id="18" name="Text 16"/>
          <p:cNvSpPr/>
          <p:nvPr/>
        </p:nvSpPr>
        <p:spPr>
          <a:xfrm>
            <a:off x="1645920" y="2295144"/>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Presented SkyStore, a cost-optimised multi-cloud object store with a TTL-based data placement policy that dynamically replicates and evicts objects based on access patterns. Reduced overall cost by up to 6x over academic baselines. Availability and fault tolerance were confirmed on par with standard cloud offerings, but optimisation of both cost and SLA-guaranteed availability as dual formal objectives during initial storage node allocation was not addressed.</a:t>
            </a:r>
            <a:endParaRPr lang="en-US" sz="950" dirty="0"/>
          </a:p>
        </p:txBody>
      </p:sp>
      <p:sp>
        <p:nvSpPr>
          <p:cNvPr id="19" name="Shape 17"/>
          <p:cNvSpPr/>
          <p:nvPr/>
        </p:nvSpPr>
        <p:spPr>
          <a:xfrm>
            <a:off x="5623560" y="2258568"/>
            <a:ext cx="3474720" cy="1389888"/>
          </a:xfrm>
          <a:prstGeom prst="rect">
            <a:avLst/>
          </a:prstGeom>
          <a:solidFill>
            <a:srgbClr val="F2F2F2"/>
          </a:solidFill>
          <a:ln w="6350">
            <a:solidFill>
              <a:srgbClr val="BFBFBF"/>
            </a:solidFill>
            <a:prstDash val="solid"/>
          </a:ln>
        </p:spPr>
        <p:txBody>
          <a:bodyPr/>
          <a:lstStyle/>
          <a:p>
            <a:endParaRPr lang="en-US"/>
          </a:p>
        </p:txBody>
      </p:sp>
      <p:sp>
        <p:nvSpPr>
          <p:cNvPr id="20" name="Text 18"/>
          <p:cNvSpPr/>
          <p:nvPr/>
        </p:nvSpPr>
        <p:spPr>
          <a:xfrm>
            <a:off x="5669280" y="2295144"/>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SkyStore targets multi-cloud, multi-region object management rather than single-cloud storage node allocation under SLA thresholds. The absence of a formal dual-objective scoring model for storage node selection under explicit availability SLA constraints establishes Gap 2, which the proposed study addresses using a Python-based discrete-event simulation with real cloud storage workload traces.</a:t>
            </a:r>
            <a:endParaRPr lang="en-US" sz="950" dirty="0"/>
          </a:p>
        </p:txBody>
      </p:sp>
      <p:sp>
        <p:nvSpPr>
          <p:cNvPr id="21" name="Shape 19"/>
          <p:cNvSpPr/>
          <p:nvPr/>
        </p:nvSpPr>
        <p:spPr>
          <a:xfrm>
            <a:off x="182880" y="3648456"/>
            <a:ext cx="1417320" cy="1389888"/>
          </a:xfrm>
          <a:prstGeom prst="rect">
            <a:avLst/>
          </a:prstGeom>
          <a:solidFill>
            <a:srgbClr val="FFFFFF"/>
          </a:solidFill>
          <a:ln w="6350">
            <a:solidFill>
              <a:srgbClr val="BFBFBF"/>
            </a:solidFill>
            <a:prstDash val="solid"/>
          </a:ln>
        </p:spPr>
        <p:txBody>
          <a:bodyPr/>
          <a:lstStyle/>
          <a:p>
            <a:endParaRPr lang="en-US"/>
          </a:p>
        </p:txBody>
      </p:sp>
      <p:sp>
        <p:nvSpPr>
          <p:cNvPr id="22" name="Text 20"/>
          <p:cNvSpPr/>
          <p:nvPr/>
        </p:nvSpPr>
        <p:spPr>
          <a:xfrm>
            <a:off x="228600" y="3685032"/>
            <a:ext cx="13258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Gupta A.,</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Tyagi S. &amp;</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Aneja N. (2023)</a:t>
            </a:r>
            <a:endParaRPr lang="en-US" sz="950" dirty="0"/>
          </a:p>
        </p:txBody>
      </p:sp>
      <p:sp>
        <p:nvSpPr>
          <p:cNvPr id="23" name="Shape 21"/>
          <p:cNvSpPr/>
          <p:nvPr/>
        </p:nvSpPr>
        <p:spPr>
          <a:xfrm>
            <a:off x="1600200" y="3648456"/>
            <a:ext cx="4023360" cy="1389888"/>
          </a:xfrm>
          <a:prstGeom prst="rect">
            <a:avLst/>
          </a:prstGeom>
          <a:solidFill>
            <a:srgbClr val="FFFFFF"/>
          </a:solidFill>
          <a:ln w="6350">
            <a:solidFill>
              <a:srgbClr val="BFBFBF"/>
            </a:solidFill>
            <a:prstDash val="solid"/>
          </a:ln>
        </p:spPr>
        <p:txBody>
          <a:bodyPr/>
          <a:lstStyle/>
          <a:p>
            <a:endParaRPr lang="en-US"/>
          </a:p>
        </p:txBody>
      </p:sp>
      <p:sp>
        <p:nvSpPr>
          <p:cNvPr id="24" name="Text 22"/>
          <p:cNvSpPr/>
          <p:nvPr/>
        </p:nvSpPr>
        <p:spPr>
          <a:xfrm>
            <a:off x="1645920" y="3685032"/>
            <a:ext cx="393192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Conducted a systematic literature review of cloud scheduling and resource allocation techniques from 2019 to 2023, covering mathematical, heuristic, and hyper-heuristic approaches. Found that heuristic methods offer the best trade-off between solution quality and computational time. Confirmed that meta-heuristic methods such as GA, NSGA-II, and GWO, while producing high-quality solutions, impose significant computational overhead that limits their applicability for small and medium cloud providers with constrained infrastructure.</a:t>
            </a:r>
            <a:endParaRPr lang="en-US" sz="950" dirty="0"/>
          </a:p>
        </p:txBody>
      </p:sp>
      <p:sp>
        <p:nvSpPr>
          <p:cNvPr id="25" name="Shape 23"/>
          <p:cNvSpPr/>
          <p:nvPr/>
        </p:nvSpPr>
        <p:spPr>
          <a:xfrm>
            <a:off x="5623560" y="3648456"/>
            <a:ext cx="3474720" cy="1389888"/>
          </a:xfrm>
          <a:prstGeom prst="rect">
            <a:avLst/>
          </a:prstGeom>
          <a:solidFill>
            <a:srgbClr val="FFFFFF"/>
          </a:solidFill>
          <a:ln w="6350">
            <a:solidFill>
              <a:srgbClr val="BFBFBF"/>
            </a:solidFill>
            <a:prstDash val="solid"/>
          </a:ln>
        </p:spPr>
        <p:txBody>
          <a:bodyPr/>
          <a:lstStyle/>
          <a:p>
            <a:endParaRPr lang="en-US"/>
          </a:p>
        </p:txBody>
      </p:sp>
      <p:sp>
        <p:nvSpPr>
          <p:cNvPr id="26" name="Text 24"/>
          <p:cNvSpPr/>
          <p:nvPr/>
        </p:nvSpPr>
        <p:spPr>
          <a:xfrm>
            <a:off x="5669280" y="3685032"/>
            <a:ext cx="3383280" cy="1316736"/>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The review confirmed that lightweight allocation heuristics balancing solution quality with computational efficiency remain underexplored in storage-specific contexts. This establishes Gap 3, which the proposed study addresses through a computationally efficient α-β dual-objective scoring function designed for real-time storage node allocation without the overhead of population-based meta-heuristics.</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82880" y="45720"/>
            <a:ext cx="8778240" cy="475488"/>
          </a:xfrm>
          <a:prstGeom prst="rect">
            <a:avLst/>
          </a:prstGeom>
          <a:noFill/>
          <a:ln/>
        </p:spPr>
        <p:txBody>
          <a:bodyPr wrap="square" rtlCol="0" anchor="ctr"/>
          <a:lstStyle/>
          <a:p>
            <a:pPr marL="0" indent="0" algn="l">
              <a:buNone/>
            </a:pPr>
            <a:r>
              <a:rPr lang="en-US" sz="1500" b="1" dirty="0">
                <a:solidFill>
                  <a:srgbClr val="1F3864"/>
                </a:solidFill>
                <a:latin typeface="Times New Roman" pitchFamily="34" charset="0"/>
                <a:ea typeface="Times New Roman" pitchFamily="34" charset="-122"/>
                <a:cs typeface="Times New Roman" pitchFamily="34" charset="-120"/>
              </a:rPr>
              <a:t>2.8 RESEARCH GAPS AND SUMMARY (Cont.)</a:t>
            </a:r>
            <a:endParaRPr lang="en-US" sz="1500" dirty="0"/>
          </a:p>
        </p:txBody>
      </p:sp>
      <p:sp>
        <p:nvSpPr>
          <p:cNvPr id="3" name="Shape 1"/>
          <p:cNvSpPr/>
          <p:nvPr/>
        </p:nvSpPr>
        <p:spPr>
          <a:xfrm>
            <a:off x="182880" y="530352"/>
            <a:ext cx="1417320" cy="338328"/>
          </a:xfrm>
          <a:prstGeom prst="rect">
            <a:avLst/>
          </a:prstGeom>
          <a:solidFill>
            <a:srgbClr val="808000"/>
          </a:solidFill>
          <a:ln w="6350">
            <a:solidFill>
              <a:srgbClr val="BFBFBF"/>
            </a:solidFill>
            <a:prstDash val="solid"/>
          </a:ln>
        </p:spPr>
        <p:txBody>
          <a:bodyPr/>
          <a:lstStyle/>
          <a:p>
            <a:endParaRPr lang="en-US"/>
          </a:p>
        </p:txBody>
      </p:sp>
      <p:sp>
        <p:nvSpPr>
          <p:cNvPr id="4" name="Text 2"/>
          <p:cNvSpPr/>
          <p:nvPr/>
        </p:nvSpPr>
        <p:spPr>
          <a:xfrm>
            <a:off x="219456" y="548640"/>
            <a:ext cx="13441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Authors</a:t>
            </a:r>
            <a:endParaRPr lang="en-US" sz="1100" dirty="0"/>
          </a:p>
        </p:txBody>
      </p:sp>
      <p:sp>
        <p:nvSpPr>
          <p:cNvPr id="5" name="Shape 3"/>
          <p:cNvSpPr/>
          <p:nvPr/>
        </p:nvSpPr>
        <p:spPr>
          <a:xfrm>
            <a:off x="1600200" y="530352"/>
            <a:ext cx="4023360" cy="338328"/>
          </a:xfrm>
          <a:prstGeom prst="rect">
            <a:avLst/>
          </a:prstGeom>
          <a:solidFill>
            <a:srgbClr val="808000"/>
          </a:solidFill>
          <a:ln w="6350">
            <a:solidFill>
              <a:srgbClr val="BFBFBF"/>
            </a:solidFill>
            <a:prstDash val="solid"/>
          </a:ln>
        </p:spPr>
        <p:txBody>
          <a:bodyPr/>
          <a:lstStyle/>
          <a:p>
            <a:endParaRPr lang="en-US"/>
          </a:p>
        </p:txBody>
      </p:sp>
      <p:sp>
        <p:nvSpPr>
          <p:cNvPr id="6" name="Text 4"/>
          <p:cNvSpPr/>
          <p:nvPr/>
        </p:nvSpPr>
        <p:spPr>
          <a:xfrm>
            <a:off x="1636776" y="548640"/>
            <a:ext cx="395020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Method, Findings and Conclusions</a:t>
            </a:r>
            <a:endParaRPr lang="en-US" sz="1100" dirty="0"/>
          </a:p>
        </p:txBody>
      </p:sp>
      <p:sp>
        <p:nvSpPr>
          <p:cNvPr id="7" name="Shape 5"/>
          <p:cNvSpPr/>
          <p:nvPr/>
        </p:nvSpPr>
        <p:spPr>
          <a:xfrm>
            <a:off x="5623560" y="530352"/>
            <a:ext cx="3474720" cy="338328"/>
          </a:xfrm>
          <a:prstGeom prst="rect">
            <a:avLst/>
          </a:prstGeom>
          <a:solidFill>
            <a:srgbClr val="808000"/>
          </a:solidFill>
          <a:ln w="6350">
            <a:solidFill>
              <a:srgbClr val="BFBFBF"/>
            </a:solidFill>
            <a:prstDash val="solid"/>
          </a:ln>
        </p:spPr>
        <p:txBody>
          <a:bodyPr/>
          <a:lstStyle/>
          <a:p>
            <a:endParaRPr lang="en-US"/>
          </a:p>
        </p:txBody>
      </p:sp>
      <p:sp>
        <p:nvSpPr>
          <p:cNvPr id="8" name="Text 6"/>
          <p:cNvSpPr/>
          <p:nvPr/>
        </p:nvSpPr>
        <p:spPr>
          <a:xfrm>
            <a:off x="5660136" y="548640"/>
            <a:ext cx="3401568" cy="301752"/>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Critique</a:t>
            </a:r>
            <a:endParaRPr lang="en-US" sz="1100" dirty="0"/>
          </a:p>
        </p:txBody>
      </p:sp>
      <p:sp>
        <p:nvSpPr>
          <p:cNvPr id="9" name="Shape 7"/>
          <p:cNvSpPr/>
          <p:nvPr/>
        </p:nvSpPr>
        <p:spPr>
          <a:xfrm>
            <a:off x="182880" y="868680"/>
            <a:ext cx="1417320" cy="4114800"/>
          </a:xfrm>
          <a:prstGeom prst="rect">
            <a:avLst/>
          </a:prstGeom>
          <a:solidFill>
            <a:srgbClr val="FFFFFF"/>
          </a:solidFill>
          <a:ln w="6350">
            <a:solidFill>
              <a:srgbClr val="BFBFBF"/>
            </a:solidFill>
            <a:prstDash val="solid"/>
          </a:ln>
        </p:spPr>
        <p:txBody>
          <a:bodyPr/>
          <a:lstStyle/>
          <a:p>
            <a:endParaRPr lang="en-US"/>
          </a:p>
        </p:txBody>
      </p:sp>
      <p:sp>
        <p:nvSpPr>
          <p:cNvPr id="10" name="Text 8"/>
          <p:cNvSpPr/>
          <p:nvPr/>
        </p:nvSpPr>
        <p:spPr>
          <a:xfrm>
            <a:off x="228600" y="905256"/>
            <a:ext cx="1325880" cy="404164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Zaman S.,</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Sharif A.,</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Waqas M. &amp;</a:t>
            </a:r>
            <a:endParaRPr lang="en-US" sz="950" dirty="0"/>
          </a:p>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Ahmed G. (2022)</a:t>
            </a:r>
            <a:endParaRPr lang="en-US" sz="950" dirty="0"/>
          </a:p>
        </p:txBody>
      </p:sp>
      <p:sp>
        <p:nvSpPr>
          <p:cNvPr id="11" name="Shape 9"/>
          <p:cNvSpPr/>
          <p:nvPr/>
        </p:nvSpPr>
        <p:spPr>
          <a:xfrm>
            <a:off x="1600200" y="868680"/>
            <a:ext cx="4023360" cy="4114800"/>
          </a:xfrm>
          <a:prstGeom prst="rect">
            <a:avLst/>
          </a:prstGeom>
          <a:solidFill>
            <a:srgbClr val="FFFFFF"/>
          </a:solidFill>
          <a:ln w="6350">
            <a:solidFill>
              <a:srgbClr val="BFBFBF"/>
            </a:solidFill>
            <a:prstDash val="solid"/>
          </a:ln>
        </p:spPr>
        <p:txBody>
          <a:bodyPr/>
          <a:lstStyle/>
          <a:p>
            <a:endParaRPr lang="en-US"/>
          </a:p>
        </p:txBody>
      </p:sp>
      <p:sp>
        <p:nvSpPr>
          <p:cNvPr id="12" name="Text 10"/>
          <p:cNvSpPr/>
          <p:nvPr/>
        </p:nvSpPr>
        <p:spPr>
          <a:xfrm>
            <a:off x="1645920" y="905256"/>
            <a:ext cx="3931920" cy="404164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Proposed a dynamic replication modelling approach for cloud storage under pay-as-you-go pricing to balance cost and availability. Threshold-based replica management reduced cloud replicas and storage fees compared to static Azure three-node replication. Acknowledged that while the cost-availability trade-off was a central concern, no weighted scoring model was developed that simultaneously formalises both objectives for storage node selection decisions across diverse SLA availability thresholds.</a:t>
            </a:r>
            <a:endParaRPr lang="en-US" sz="950" dirty="0"/>
          </a:p>
        </p:txBody>
      </p:sp>
      <p:sp>
        <p:nvSpPr>
          <p:cNvPr id="13" name="Shape 11"/>
          <p:cNvSpPr/>
          <p:nvPr/>
        </p:nvSpPr>
        <p:spPr>
          <a:xfrm>
            <a:off x="5623560" y="868680"/>
            <a:ext cx="3474720" cy="4114800"/>
          </a:xfrm>
          <a:prstGeom prst="rect">
            <a:avLst/>
          </a:prstGeom>
          <a:solidFill>
            <a:srgbClr val="FFFFFF"/>
          </a:solidFill>
          <a:ln w="6350">
            <a:solidFill>
              <a:srgbClr val="BFBFBF"/>
            </a:solidFill>
            <a:prstDash val="solid"/>
          </a:ln>
        </p:spPr>
        <p:txBody>
          <a:bodyPr/>
          <a:lstStyle/>
          <a:p>
            <a:endParaRPr lang="en-US"/>
          </a:p>
        </p:txBody>
      </p:sp>
      <p:sp>
        <p:nvSpPr>
          <p:cNvPr id="14" name="Text 12"/>
          <p:cNvSpPr/>
          <p:nvPr/>
        </p:nvSpPr>
        <p:spPr>
          <a:xfrm>
            <a:off x="5669280" y="905256"/>
            <a:ext cx="3383280" cy="4041648"/>
          </a:xfrm>
          <a:prstGeom prst="rect">
            <a:avLst/>
          </a:prstGeom>
          <a:noFill/>
          <a:ln/>
        </p:spPr>
        <p:txBody>
          <a:bodyPr wrap="square" lIns="0" tIns="0" rIns="0" bIns="0" rtlCol="0" anchor="t"/>
          <a:lstStyle/>
          <a:p>
            <a:pPr marL="0" indent="0" algn="just">
              <a:buNone/>
            </a:pPr>
            <a:r>
              <a:rPr lang="en-US" sz="950" dirty="0">
                <a:solidFill>
                  <a:srgbClr val="000000"/>
                </a:solidFill>
                <a:latin typeface="Times New Roman" pitchFamily="34" charset="0"/>
                <a:ea typeface="Times New Roman" pitchFamily="34" charset="-122"/>
                <a:cs typeface="Times New Roman" pitchFamily="34" charset="-120"/>
              </a:rPr>
              <a:t>While Zaman et al. (2022), Liu et al. (2023), and SkyStore (2025) all acknowledge the cost-availability trade-off in cloud storage, none formalises a weighted α-β scoring model for storage node selection. This establishes Gap 4, which the proposed study fills by introducing a tunable dual-objective model enabling cloud operators to balance cost and SLA-aware availability based on specific provider requirements.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5325</Words>
  <Application>Microsoft Office PowerPoint</Application>
  <PresentationFormat>On-screen Show (16:9)</PresentationFormat>
  <Paragraphs>382</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Two Literature Review</dc:title>
  <dc:subject>PptxGenJS Presentation</dc:subject>
  <dc:creator>Eunice Junior Agyei</dc:creator>
  <cp:lastModifiedBy>Eunice Agyei Junior</cp:lastModifiedBy>
  <cp:revision>5</cp:revision>
  <dcterms:created xsi:type="dcterms:W3CDTF">2026-05-31T04:45:30Z</dcterms:created>
  <dcterms:modified xsi:type="dcterms:W3CDTF">2026-05-31T13:43:38Z</dcterms:modified>
</cp:coreProperties>
</file>